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4"/>
  </p:normalViewPr>
  <p:slideViewPr>
    <p:cSldViewPr snapToGrid="0" snapToObjects="1">
      <p:cViewPr varScale="1">
        <p:scale>
          <a:sx n="88" d="100"/>
          <a:sy n="88" d="100"/>
        </p:scale>
        <p:origin x="176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2743200"/>
            <a:ext cx="12188952" cy="54864"/>
          </a:xfrm>
          <a:prstGeom prst="roundRect">
            <a:avLst>
              <a:gd name="adj" fmla="val 5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AMD AI Premier League (AAIPL)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CCCCCC"/>
                </a:solidFill>
                <a:latin typeface="Calibri"/>
              </a:rPr>
              <a:t>Adversarial Agent Generation — Question &amp; Answer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9538" y="4114800"/>
            <a:ext cx="4668137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solidFill>
                  <a:srgbClr val="999999"/>
                </a:solidFill>
                <a:latin typeface="Calibri"/>
              </a:rPr>
              <a:t>Team 22</a:t>
            </a:r>
          </a:p>
          <a:p>
            <a:pPr algn="ctr"/>
            <a:r>
              <a:rPr lang="en-US" sz="2400" dirty="0">
                <a:solidFill>
                  <a:srgbClr val="999999"/>
                </a:solidFill>
                <a:latin typeface="Calibri"/>
              </a:rPr>
              <a:t>IIT-</a:t>
            </a:r>
            <a:r>
              <a:rPr lang="en-US" sz="2400" dirty="0" err="1">
                <a:solidFill>
                  <a:srgbClr val="999999"/>
                </a:solidFill>
                <a:latin typeface="Calibri"/>
              </a:rPr>
              <a:t>Dholakpur</a:t>
            </a:r>
            <a:r>
              <a:rPr lang="en-US" sz="2400" dirty="0">
                <a:solidFill>
                  <a:srgbClr val="999999"/>
                </a:solidFill>
                <a:latin typeface="Calibri"/>
              </a:rPr>
              <a:t> </a:t>
            </a:r>
          </a:p>
          <a:p>
            <a:pPr algn="ctr"/>
            <a:r>
              <a:rPr lang="en-US" sz="2400" dirty="0">
                <a:solidFill>
                  <a:srgbClr val="999999"/>
                </a:solidFill>
                <a:latin typeface="Calibri"/>
              </a:rPr>
              <a:t>Aayush, Ashish, </a:t>
            </a:r>
            <a:r>
              <a:rPr lang="en-US" sz="2400" dirty="0" err="1">
                <a:solidFill>
                  <a:srgbClr val="999999"/>
                </a:solidFill>
                <a:latin typeface="Calibri"/>
              </a:rPr>
              <a:t>Namas</a:t>
            </a:r>
            <a:r>
              <a:rPr lang="en-US" sz="2400" dirty="0">
                <a:solidFill>
                  <a:srgbClr val="999999"/>
                </a:solidFill>
                <a:latin typeface="Calibri"/>
              </a:rPr>
              <a:t>, Karthikeyan</a:t>
            </a:r>
          </a:p>
          <a:p>
            <a:pPr algn="ctr"/>
            <a:endParaRPr lang="en-US" sz="2400" b="0" dirty="0">
              <a:solidFill>
                <a:srgbClr val="999999"/>
              </a:solidFill>
              <a:latin typeface="Calibri"/>
            </a:endParaRPr>
          </a:p>
          <a:p>
            <a:pPr algn="ctr"/>
            <a:endParaRPr lang="en-US" sz="2400" dirty="0">
              <a:solidFill>
                <a:srgbClr val="999999"/>
              </a:solidFill>
              <a:latin typeface="Calibri"/>
            </a:endParaRPr>
          </a:p>
          <a:p>
            <a:pPr algn="ctr"/>
            <a:endParaRPr sz="2400" b="0" dirty="0">
              <a:solidFill>
                <a:srgbClr val="99999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ED1C24"/>
                </a:solidFill>
                <a:latin typeface="Calibri"/>
              </a:rPr>
              <a:t>Team AAIPL  |  Track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➤ Goal:</a:t>
            </a:r>
            <a:r>
              <a:rPr sz="1800" b="0">
                <a:solidFill>
                  <a:srgbClr val="CCCCCC"/>
                </a:solidFill>
                <a:latin typeface="Calibri"/>
              </a:rPr>
              <a:t> Build a Q-Agent (generates hard MCQs) and an A-Agent (answers MCQs robustly) that compete adversarially.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➤ Domain:</a:t>
            </a:r>
            <a:r>
              <a:rPr sz="1800" b="0">
                <a:solidFill>
                  <a:srgbClr val="CCCCCC"/>
                </a:solidFill>
                <a:latin typeface="Calibri"/>
              </a:rPr>
              <a:t> Logical Reasoning — Syllogisms, Number/Alphanumeric Series, Blood Relations, Seating Arrangements.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➤ Scoring:</a:t>
            </a:r>
            <a:r>
              <a:rPr sz="1800" b="0">
                <a:solidFill>
                  <a:srgbClr val="CCCCCC"/>
                </a:solidFill>
                <a:latin typeface="Calibri"/>
              </a:rPr>
              <a:t> Q-Agent earns points by fooling the opponent's A-Agent; A-Agent earns points by correctly answering opponent's questions.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➤ Constraint:</a:t>
            </a:r>
            <a:r>
              <a:rPr sz="1800" b="0">
                <a:solidFill>
                  <a:srgbClr val="CCCCCC"/>
                </a:solidFill>
                <a:latin typeface="Calibri"/>
              </a:rPr>
              <a:t> Questions must be valid &amp; solvable — an "Oracle" (70B judge) verifies correctness.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3794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7F32"/>
                </a:solidFill>
                <a:latin typeface="Calibri"/>
              </a:rPr>
              <a:t>Q-Agent  (Offence)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0624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Generate difficult but fair MCQs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Exploit reasoning gaps of opponent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4 choices (A–D), one correct answer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Must pass Oracle validity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3794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48AFF"/>
                </a:solidFill>
                <a:latin typeface="Calibri"/>
              </a:rPr>
              <a:t>A-Agent  (Defence)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20624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Robustly answer adversarial MCQs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Handle tricky distractors &amp; traps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Structured JSON output: {answer, explanation}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Maximise accuracy under adversarial input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Topic Taxonomy &amp; Sub-Categories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9748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7F32"/>
                </a:solidFill>
                <a:latin typeface="Calibri"/>
              </a:rPr>
              <a:t>Logical Reasoning / Syllogisms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both_neither_conclusion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which_conclusion_follows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which_does_not_follow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69748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41732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8AFF"/>
                </a:solidFill>
                <a:latin typeface="Calibri"/>
              </a:rPr>
              <a:t>Series &amp;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4884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numeric_next_term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alphanumeric_next_term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missing_term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odd_one_out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69748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  <a:latin typeface="Calibri"/>
              </a:rPr>
              <a:t>Blood Relations &amp; Family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4884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simple_relation_2hop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moderate_relation_3hop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complex_relation_4hop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extended_relation_5hop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280160"/>
            <a:ext cx="269748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41732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BB86FC"/>
                </a:solidFill>
                <a:latin typeface="Calibri"/>
              </a:rPr>
              <a:t>Puzzles / Seating Arrangements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4884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linear_position_query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linear_adjacent_query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circular_position_query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circular_adjacent_query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circular_between_query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Dataset Generation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645920"/>
            <a:ext cx="548640" cy="548640"/>
          </a:xfrm>
          <a:prstGeom prst="ellipse">
            <a:avLst/>
          </a:prstGeom>
          <a:solidFill>
            <a:srgbClr val="FF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7F32"/>
                </a:solidFill>
                <a:latin typeface="Calibri"/>
              </a:rPr>
              <a:t>Topic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Define 4 parent topics
&amp; 16 subtypes from
logical reasoning
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46304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291840" y="1645920"/>
            <a:ext cx="548640" cy="54864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331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48AFF"/>
                </a:solidFill>
                <a:latin typeface="Calibri"/>
              </a:rPr>
              <a:t>Seed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Use LLaMA-3.3-70B
(Oracle) to generate
diverse seed MCQs
per subtype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6304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32120" y="164592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C853"/>
                </a:solidFill>
                <a:latin typeface="Calibri"/>
              </a:rPr>
              <a:t>Quality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8346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Oracle self-verification:
solve 5× at temp &gt; 0;
keep if 4/5 agree
on correct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46304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0" y="1645920"/>
            <a:ext cx="548640" cy="54864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31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B86FC"/>
                </a:solidFill>
                <a:latin typeface="Calibri"/>
              </a:rPr>
              <a:t>Format &amp; Tag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346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Tag each sample with
topic, subtype, difficulty;
structure as ChatML
for SFT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46304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12680" y="1645920"/>
            <a:ext cx="548640" cy="54864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Calibri"/>
              </a:rPr>
              <a:t>Final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8346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113,642 training
samples in
qagent_chatml_train.json
&amp; aagent_chatml_val.json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834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834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34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34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Calibri"/>
              </a:rPr>
              <a:t>All data generated synthetically using LLaMA-3.3-70B-Instruct on AMD MI300X  •  No human annotation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A-Agent Training: Supervised Fine-Tuning (SFT)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48AFF"/>
                </a:solidFill>
                <a:latin typeface="Calibri"/>
              </a:rPr>
              <a:t>Model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Base Model:</a:t>
            </a:r>
            <a:r>
              <a:rPr sz="1400" b="0">
                <a:solidFill>
                  <a:srgbClr val="CCCCCC"/>
                </a:solidFill>
                <a:latin typeface="Calibri"/>
              </a:rPr>
              <a:t> Qwen2.5-14B-Instruct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Method:</a:t>
            </a:r>
            <a:r>
              <a:rPr sz="1400" b="0">
                <a:solidFill>
                  <a:srgbClr val="CCCCCC"/>
                </a:solidFill>
                <a:latin typeface="Calibri"/>
              </a:rPr>
              <a:t> LoRA (rank 64, alpha 16)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Precision: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BF16 (full precision)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Framework:</a:t>
            </a:r>
            <a:r>
              <a:rPr sz="1400" b="0">
                <a:solidFill>
                  <a:srgbClr val="CCCCCC"/>
                </a:solidFill>
                <a:latin typeface="Calibri"/>
              </a:rPr>
              <a:t> Unsloth + HuggingFace TRL SFTTrainer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Hardware:</a:t>
            </a:r>
            <a:r>
              <a:rPr sz="1400" b="0">
                <a:solidFill>
                  <a:srgbClr val="CCCCCC"/>
                </a:solidFill>
                <a:latin typeface="Calibri"/>
              </a:rPr>
              <a:t> AMD MI300X (192 GB HBM3, ROCm)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Training Data:</a:t>
            </a:r>
            <a:r>
              <a:rPr sz="1400" b="0">
                <a:solidFill>
                  <a:srgbClr val="CCCCCC"/>
                </a:solidFill>
                <a:latin typeface="Calibri"/>
              </a:rPr>
              <a:t> 113,642 ChatML samples (aagent_chatml_train.json)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Format:</a:t>
            </a:r>
            <a:r>
              <a:rPr sz="1400" b="0">
                <a:solidFill>
                  <a:srgbClr val="CCCCCC"/>
                </a:solidFill>
                <a:latin typeface="Calibri"/>
              </a:rPr>
              <a:t> system + user (topic/question/choices) → assistant (JSON answer)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Epochs:</a:t>
            </a:r>
            <a:r>
              <a:rPr sz="1400" b="0">
                <a:solidFill>
                  <a:srgbClr val="CCCCCC"/>
                </a:solidFill>
                <a:latin typeface="Calibri"/>
              </a:rPr>
              <a:t> 3 full epochs, cosine LR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C853"/>
                </a:solidFill>
                <a:latin typeface="Calibri"/>
              </a:rPr>
              <a:t>Why SFT for A-Agent?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A-Agent needs reliable, structured output (JSON)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SFT learns the exact format from curated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Consistent {answer, explanation} generation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Robust against adversarial question phrasing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7F32"/>
                </a:solidFill>
                <a:latin typeface="Calibri"/>
              </a:rPr>
              <a:t>Output Format (JSON)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4805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{ "answer": "B",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  "explanation": "Step-by-step reasoning..." }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Robust parser handles malformed outputs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6-strategy fallback chain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Q-Agent Training: GRPO (Reinforcement Learning)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7F32"/>
                </a:solidFill>
                <a:latin typeface="Calibri"/>
              </a:rPr>
              <a:t>Group Relative Policy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Base Model:</a:t>
            </a:r>
            <a:r>
              <a:rPr sz="1400" b="0">
                <a:solidFill>
                  <a:srgbClr val="CCCCCC"/>
                </a:solidFill>
                <a:latin typeface="Calibri"/>
              </a:rPr>
              <a:t> Qwen2.5-14B-Instruct (LoRA rank 64)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Framework:</a:t>
            </a:r>
            <a:r>
              <a:rPr sz="1400" b="0">
                <a:solidFill>
                  <a:srgbClr val="CCCCCC"/>
                </a:solidFill>
                <a:latin typeface="Calibri"/>
              </a:rPr>
              <a:t> TRL GRPOTrainer + Unsloth + vLLM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Oracle:</a:t>
            </a:r>
            <a:r>
              <a:rPr sz="1400" b="0">
                <a:solidFill>
                  <a:srgbClr val="CCCCCC"/>
                </a:solidFill>
                <a:latin typeface="Calibri"/>
              </a:rPr>
              <a:t> LLaMA-3.3-70B-Instruct (4-bit, frozen)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Generations/prompt:</a:t>
            </a:r>
            <a:r>
              <a:rPr sz="1400" b="0">
                <a:solidFill>
                  <a:srgbClr val="CCCCCC"/>
                </a:solidFill>
                <a:latin typeface="Calibri"/>
              </a:rPr>
              <a:t> 16 candidates per prompt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Max Steps:</a:t>
            </a:r>
            <a:r>
              <a:rPr sz="1400" b="0">
                <a:solidFill>
                  <a:srgbClr val="CCCCCC"/>
                </a:solidFill>
                <a:latin typeface="Calibri"/>
              </a:rPr>
              <a:t> 1,500 steps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GPU Memory:</a:t>
            </a:r>
            <a:r>
              <a:rPr sz="1400" b="0">
                <a:solidFill>
                  <a:srgbClr val="CCCCCC"/>
                </a:solidFill>
                <a:latin typeface="Calibri"/>
              </a:rPr>
              <a:t> 60% vLLM + 40% training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Gradient Accum:</a:t>
            </a:r>
            <a:r>
              <a:rPr sz="1400" b="0">
                <a:solidFill>
                  <a:srgbClr val="CCCCCC"/>
                </a:solidFill>
                <a:latin typeface="Calibri"/>
              </a:rPr>
              <a:t> 1 (maximise throughput)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Key Insight:</a:t>
            </a:r>
            <a:r>
              <a:rPr sz="1400" b="0">
                <a:solidFill>
                  <a:srgbClr val="CCCCCC"/>
                </a:solidFill>
                <a:latin typeface="Calibri"/>
              </a:rPr>
              <a:t> No separate Critic needed — uses group-relative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C853"/>
                </a:solidFill>
                <a:latin typeface="Calibri"/>
              </a:rPr>
              <a:t>Reward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Format Reward:</a:t>
            </a:r>
            <a:r>
              <a:rPr sz="1400" b="0">
                <a:solidFill>
                  <a:srgbClr val="CCCCCC"/>
                </a:solidFill>
                <a:latin typeface="Calibri"/>
              </a:rPr>
              <a:t> +1.0 for valid JSON, +1.0 for 4 choices, +1.0 for answer field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Oracle Reward:</a:t>
            </a:r>
            <a:r>
              <a:rPr sz="1400" b="0">
                <a:solidFill>
                  <a:srgbClr val="CCCCCC"/>
                </a:solidFill>
                <a:latin typeface="Calibri"/>
              </a:rPr>
              <a:t> +3.0 if Oracle verifies correct answer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Wrong Penalty:</a:t>
            </a:r>
            <a:r>
              <a:rPr sz="1400" b="0">
                <a:solidFill>
                  <a:srgbClr val="CCCCCC"/>
                </a:solidFill>
                <a:latin typeface="Calibri"/>
              </a:rPr>
              <a:t> −1.5 softened penalty (avoids collapse)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Adversarial Bonus:</a:t>
            </a:r>
            <a:r>
              <a:rPr sz="1400" b="0">
                <a:solidFill>
                  <a:srgbClr val="CCCCCC"/>
                </a:solidFill>
                <a:latin typeface="Calibri"/>
              </a:rPr>
              <a:t> +2.0 if Oracle is fooled (hard questions)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251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Calibri"/>
              </a:rPr>
              <a:t>GRPO Training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6634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1. Q-Agent generates 16 candidate MCQs per prompt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2. Format reward: check JSON validity &amp; structure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3. Oracle (70B) attempts to solve each question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4. Compute advantage relative to group baseline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5. Policy gradient update (PPO-style, no critic)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F32"/>
                </a:solidFill>
                <a:latin typeface="Calibri"/>
              </a:rPr>
              <a:t>Q-Agent (Offence)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Qwen2.5-14B + LoRA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GRPO-trained policy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Subtype-aware prompts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16 subtypes across 4 topics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Robust JSON parser (5 strategies)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Overgenerate → Filter →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D1C24"/>
                </a:solidFill>
                <a:latin typeface="Calibri"/>
              </a:rPr>
              <a:t>Oracle / Judge (70B)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468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LLaMA-3.3-70B-Instruct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4-bit quantized (frozen)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Validates Q-Agent output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Provides reward signal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Batched inference for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7160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4630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48AFF"/>
                </a:solidFill>
                <a:latin typeface="Calibri"/>
              </a:rPr>
              <a:t>A-Agent (Defence)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0116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Qwen2.5-14B + LoRA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SFT-trained (113K samples)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Structured JSON output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Robust parser (6 strategies)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Verification-first prompting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• Handles adversarial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108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99999"/>
                </a:solidFill>
                <a:latin typeface="Calibri"/>
              </a:rPr>
              <a:t>generates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99999"/>
                </a:solidFill>
                <a:latin typeface="Calibri"/>
              </a:rPr>
              <a:t>←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76072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806440"/>
            <a:ext cx="9052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Hardware:  AMD Instinct MI300X  ·  192 GB HBM3  ·  5.3 TB/s bandwidth  ·  ROCm + vLLM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Robust Output Parsing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7F32"/>
                </a:solidFill>
                <a:latin typeface="Calibri"/>
              </a:rPr>
              <a:t>Q-Agent Parser  (5 Strategies)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1. Direct JSON:</a:t>
            </a:r>
            <a:r>
              <a:rPr sz="1400" b="0">
                <a:solidFill>
                  <a:srgbClr val="CCCCCC"/>
                </a:solidFill>
                <a:latin typeface="Calibri"/>
              </a:rPr>
              <a:t> json.loads() on raw output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2. Code-block extraction: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Strip ```json fences, parse inner text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3. Brace extraction: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Find outermost { … } and parse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4. Field-per-line:</a:t>
            </a:r>
            <a:r>
              <a:rPr sz="1400" b="0">
                <a:solidFill>
                  <a:srgbClr val="CCCCCC"/>
                </a:solidFill>
                <a:latin typeface="Calibri"/>
              </a:rPr>
              <a:t> Regex: key"value" per line → dict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5. Partial key extraction: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Regex "topic", "question", "0"-"3"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48AFF"/>
                </a:solidFill>
                <a:latin typeface="Calibri"/>
              </a:rPr>
              <a:t>A-Agent Parser  (6 Strategies)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1. Direct JSON:</a:t>
            </a:r>
            <a:r>
              <a:rPr sz="1400" b="0">
                <a:solidFill>
                  <a:srgbClr val="CCCCCC"/>
                </a:solidFill>
                <a:latin typeface="Calibri"/>
              </a:rPr>
              <a:t> json.loads() on raw output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2. Null-line strip:</a:t>
            </a:r>
            <a:r>
              <a:rPr sz="1400" b="0">
                <a:solidFill>
                  <a:srgbClr val="CCCCCC"/>
                </a:solidFill>
                <a:latin typeface="Calibri"/>
              </a:rPr>
              <a:t> Remove \x00 / NUL bytes then parse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3. Code-block extraction: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Strip ```json fences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4. Brace extraction: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Find outermost { … }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5. Key-value regex:</a:t>
            </a:r>
            <a:r>
              <a:rPr sz="1400" b="0">
                <a:solidFill>
                  <a:srgbClr val="CCCCCC"/>
                </a:solidFill>
                <a:latin typeface="Calibri"/>
              </a:rPr>
              <a:t> Match "answer":"X" pattern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6. First-letter fallback:</a:t>
            </a:r>
            <a:r>
              <a:rPr sz="1400" b="0">
                <a:solidFill>
                  <a:srgbClr val="CCCCCC"/>
                </a:solidFill>
                <a:latin typeface="Calibri"/>
              </a:rPr>
              <a:t> First A/B/C/D character in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3-tier pipeline:  Direct JSON  →  Robust Parser  →  LLM Re-prompt 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Evaluation &amp; 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C853"/>
                </a:solidFill>
                <a:latin typeface="Calibri"/>
              </a:rPr>
              <a:t>Format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508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3.0 /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Valid JSON with correct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C853"/>
                </a:solidFill>
                <a:latin typeface="Calibri"/>
              </a:rPr>
              <a:t>Length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3.0 /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Within token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7F32"/>
                </a:solidFill>
                <a:latin typeface="Calibri"/>
              </a:rPr>
              <a:t>Oracle + Adversarial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46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Average oracle &amp; adversarial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4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Calibri"/>
              </a:rPr>
              <a:t>High Oracle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% questions Oracle couldn't solve (target: ↑)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7F32"/>
                </a:solidFill>
                <a:latin typeface="Calibri"/>
              </a:rPr>
              <a:t>Oracle Fooled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83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% questions that tricked opponent A-Agent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Calibri"/>
              </a:rPr>
              <a:t>Metrics from initial GRPO checkpoint (step 51)  •  Training continued to 1,500 steps with improved 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Key Improvements &amp; Iterations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7F32"/>
                </a:solidFill>
                <a:latin typeface="Calibri"/>
              </a:rPr>
              <a:t>Training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Batched Oracle Inference:</a:t>
            </a:r>
            <a:r>
              <a:rPr sz="1400" b="0">
                <a:solidFill>
                  <a:srgbClr val="CCCCCC"/>
                </a:solidFill>
                <a:latin typeface="Calibri"/>
              </a:rPr>
              <a:t> 10× faster reward computation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Gradient Accum 4→1:</a:t>
            </a:r>
            <a:r>
              <a:rPr sz="1400" b="0">
                <a:solidFill>
                  <a:srgbClr val="CCCCCC"/>
                </a:solidFill>
                <a:latin typeface="Calibri"/>
              </a:rPr>
              <a:t> More frequent updates, better signal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Generations 8→16:</a:t>
            </a:r>
            <a:r>
              <a:rPr sz="1400" b="0">
                <a:solidFill>
                  <a:srgbClr val="CCCCCC"/>
                </a:solidFill>
                <a:latin typeface="Calibri"/>
              </a:rPr>
              <a:t> Better advantage estimation in GRPO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Max Steps 500→1500:</a:t>
            </a:r>
            <a:r>
              <a:rPr sz="1400" b="0">
                <a:solidFill>
                  <a:srgbClr val="CCCCCC"/>
                </a:solidFill>
                <a:latin typeface="Calibri"/>
              </a:rPr>
              <a:t> Longer training for convergence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Softened Penalty −3→−1.5:</a:t>
            </a:r>
            <a:r>
              <a:rPr sz="1400" b="0">
                <a:solidFill>
                  <a:srgbClr val="CCCCCC"/>
                </a:solidFill>
                <a:latin typeface="Calibri"/>
              </a:rPr>
              <a:t> Avoids reward collapse, encourages exploration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Resume from Checkpoint:</a:t>
            </a:r>
            <a:r>
              <a:rPr sz="1400" b="0">
                <a:solidFill>
                  <a:srgbClr val="CCCCCC"/>
                </a:solidFill>
                <a:latin typeface="Calibri"/>
              </a:rPr>
              <a:t> Continuous training without data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48AFF"/>
                </a:solidFill>
                <a:latin typeface="Calibri"/>
              </a:rPr>
              <a:t>Inference &amp; Evaluation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Subtype-Specific Prompts:</a:t>
            </a:r>
            <a:r>
              <a:rPr sz="1400" b="0">
                <a:solidFill>
                  <a:srgbClr val="CCCCCC"/>
                </a:solidFill>
                <a:latin typeface="Calibri"/>
              </a:rPr>
              <a:t> Match exact SFT training format in eval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Robust Parsers:</a:t>
            </a:r>
            <a:r>
              <a:rPr sz="1400" b="0">
                <a:solidFill>
                  <a:srgbClr val="CCCCCC"/>
                </a:solidFill>
                <a:latin typeface="Calibri"/>
              </a:rPr>
              <a:t> 5-strategy (Q) + 6-strategy (A) fallback chains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In-place Answer Parsing:</a:t>
            </a:r>
            <a:r>
              <a:rPr sz="1400" b="0">
                <a:solidFill>
                  <a:srgbClr val="CCCCCC"/>
                </a:solidFill>
                <a:latin typeface="Calibri"/>
              </a:rPr>
              <a:t> _parse_and_normalize() inside answer_batches()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HF generate() Fix:</a:t>
            </a:r>
            <a:r>
              <a:rPr sz="1400" b="0">
                <a:solidFill>
                  <a:srgbClr val="CCCCCC"/>
                </a:solidFill>
                <a:latin typeface="Calibri"/>
              </a:rPr>
              <a:t> Replaced broken fast_generate() with HF kwargs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Left-Pad Batched Gen:</a:t>
            </a:r>
            <a:r>
              <a:rPr sz="1400" b="0">
                <a:solidFill>
                  <a:srgbClr val="CCCCCC"/>
                </a:solidFill>
                <a:latin typeface="Calibri"/>
              </a:rPr>
              <a:t> Proper padding for batch inference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Standalone Validation: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run_model.py with confusion matrices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Hardware &amp; Software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D1C24"/>
                </a:solidFill>
                <a:latin typeface="Calibri"/>
              </a:rPr>
              <a:t>AMD Instinct MI300X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VRAM:</a:t>
            </a:r>
            <a:r>
              <a:rPr sz="1400" b="0">
                <a:solidFill>
                  <a:srgbClr val="CCCCCC"/>
                </a:solidFill>
                <a:latin typeface="Calibri"/>
              </a:rPr>
              <a:t> 192 GB HBM3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Bandwidth:</a:t>
            </a:r>
            <a:r>
              <a:rPr sz="1400" b="0">
                <a:solidFill>
                  <a:srgbClr val="CCCCCC"/>
                </a:solidFill>
                <a:latin typeface="Calibri"/>
              </a:rPr>
              <a:t> 5.3 TB/s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Architecture:</a:t>
            </a:r>
            <a:r>
              <a:rPr sz="1400" b="0">
                <a:solidFill>
                  <a:srgbClr val="CCCCCC"/>
                </a:solidFill>
                <a:latin typeface="Calibri"/>
              </a:rPr>
              <a:t> CDNA 3 chiplet design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Advantage:</a:t>
            </a:r>
            <a:r>
              <a:rPr sz="1400" b="0">
                <a:solidFill>
                  <a:srgbClr val="CCCCCC"/>
                </a:solidFill>
                <a:latin typeface="Calibri"/>
              </a:rPr>
              <a:t> Full 70B model in BF16 on single GPU — no tensor parallelism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48AFF"/>
                </a:solidFill>
                <a:latin typeface="Calibri"/>
              </a:rPr>
              <a:t>Software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Runtime:</a:t>
            </a:r>
            <a:r>
              <a:rPr sz="1400" b="0">
                <a:solidFill>
                  <a:srgbClr val="CCCCCC"/>
                </a:solidFill>
                <a:latin typeface="Calibri"/>
              </a:rPr>
              <a:t> ROCm + vLLM (PagedAttention)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Training:</a:t>
            </a:r>
            <a:r>
              <a:rPr sz="1400" b="0">
                <a:solidFill>
                  <a:srgbClr val="CCCCCC"/>
                </a:solidFill>
                <a:latin typeface="Calibri"/>
              </a:rPr>
              <a:t> Unsloth + HuggingFace TRL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Models:</a:t>
            </a:r>
            <a:r>
              <a:rPr sz="1400" b="0">
                <a:solidFill>
                  <a:srgbClr val="CCCCCC"/>
                </a:solidFill>
                <a:latin typeface="Calibri"/>
              </a:rPr>
              <a:t> Qwen2.5-14B, LLaMA-3.3-70B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Precision:</a:t>
            </a:r>
            <a:r>
              <a:rPr sz="1400" b="0">
                <a:solidFill>
                  <a:srgbClr val="CCCCCC"/>
                </a:solidFill>
                <a:latin typeface="Calibri"/>
              </a:rPr>
              <a:t> BF16 (training) / 4-bit (Oracle inference)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C853"/>
                </a:solidFill>
                <a:latin typeface="Calibri"/>
              </a:rPr>
              <a:t>GPU Memory Allocation During GRPO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vLLM Engine (60%):</a:t>
            </a:r>
            <a:r>
              <a:rPr sz="1400" b="0">
                <a:solidFill>
                  <a:srgbClr val="CCCCCC"/>
                </a:solidFill>
                <a:latin typeface="Calibri"/>
              </a:rPr>
              <a:t> ~115 GB — Hosts Q-Agent policy for fast generation of 16 candidates/prompt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Training (40%):</a:t>
            </a:r>
            <a:r>
              <a:rPr sz="1400" b="0">
                <a:solidFill>
                  <a:srgbClr val="CCCCCC"/>
                </a:solidFill>
                <a:latin typeface="Calibri"/>
              </a:rPr>
              <a:t> ~77 GB — LoRA gradients, optimizer states, reference model, reward computation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Oracle (separate):</a:t>
            </a:r>
            <a:r>
              <a:rPr sz="1400" b="0">
                <a:solidFill>
                  <a:srgbClr val="CCCCCC"/>
                </a:solidFill>
                <a:latin typeface="Calibri"/>
              </a:rPr>
              <a:t> LLaMA-3.3-70B in 4-bit (~35 GB) loaded for batched reward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ED1C24"/>
                </a:solidFill>
                <a:latin typeface="Calibri"/>
              </a:rP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C853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Synthetic dataset: 113K MCQs across 4 topics, 16 subtypes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A-Agent: SFT-trained Qwen2.5-14B (LoRA) — reliable JSON answerer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Q-Agent: GRPO-trained Qwen2.5-14B — adversarial question generator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Oracle: LLaMA-3.3-70B for validation &amp; reward computation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Robust 5+6 strategy parsers for production reliability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Full pipeline on single AMD MI300X (192 GB)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Continue GRPO to 1,500 steps — target higher Oracle-fooled 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Hard subtype focus (odd_one_out, 5-hop relations, circular_between)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Distractor quality: Overgenerate-and-Rank pipeline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A-Agent: Test-Time Compute scaling (Best-of-N + Verifier)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Self-play co-evolution: Q-Agent vs A-Agent arena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• Ablation studies on reward function weights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00800"/>
            <a:ext cx="12188952" cy="54864"/>
          </a:xfrm>
          <a:prstGeom prst="roundRect">
            <a:avLst>
              <a:gd name="adj" fmla="val 5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492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AMD AI Premier League  ·  Track 1  ·  Adversarial Agent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1620</Words>
  <Application>Microsoft Macintosh PowerPoint</Application>
  <PresentationFormat>Custom</PresentationFormat>
  <Paragraphs>208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Aayush Kumar Tyagi</cp:lastModifiedBy>
  <cp:revision>2</cp:revision>
  <dcterms:created xsi:type="dcterms:W3CDTF">2013-01-27T09:14:16Z</dcterms:created>
  <dcterms:modified xsi:type="dcterms:W3CDTF">2026-02-15T09:07:34Z</dcterms:modified>
  <cp:category/>
</cp:coreProperties>
</file>